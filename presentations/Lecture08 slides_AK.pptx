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3" r:id="rId4"/>
    <p:sldId id="262" r:id="rId5"/>
    <p:sldId id="264" r:id="rId6"/>
    <p:sldId id="265" r:id="rId7"/>
    <p:sldId id="268" r:id="rId8"/>
    <p:sldId id="269" r:id="rId9"/>
    <p:sldId id="270" r:id="rId10"/>
    <p:sldId id="271" r:id="rId11"/>
    <p:sldId id="272" r:id="rId12"/>
    <p:sldId id="273" r:id="rId13"/>
    <p:sldId id="275" r:id="rId14"/>
    <p:sldId id="274" r:id="rId15"/>
    <p:sldId id="276" r:id="rId16"/>
    <p:sldId id="277" r:id="rId17"/>
    <p:sldId id="258" r:id="rId18"/>
    <p:sldId id="259" r:id="rId19"/>
    <p:sldId id="260" r:id="rId20"/>
    <p:sldId id="261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158" d="100"/>
          <a:sy n="158" d="100"/>
        </p:scale>
        <p:origin x="344" y="8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3262F-568E-4897-8EFB-773EE3ADD19E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EB9DC-7627-4B07-A848-D0F5A170C7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01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3262F-568E-4897-8EFB-773EE3ADD19E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EB9DC-7627-4B07-A848-D0F5A170C7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944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3262F-568E-4897-8EFB-773EE3ADD19E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EB9DC-7627-4B07-A848-D0F5A170C7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618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3262F-568E-4897-8EFB-773EE3ADD19E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EB9DC-7627-4B07-A848-D0F5A170C7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137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3262F-568E-4897-8EFB-773EE3ADD19E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EB9DC-7627-4B07-A848-D0F5A170C7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7566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3262F-568E-4897-8EFB-773EE3ADD19E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EB9DC-7627-4B07-A848-D0F5A170C7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5305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3262F-568E-4897-8EFB-773EE3ADD19E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EB9DC-7627-4B07-A848-D0F5A170C7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856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3262F-568E-4897-8EFB-773EE3ADD19E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EB9DC-7627-4B07-A848-D0F5A170C7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39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3262F-568E-4897-8EFB-773EE3ADD19E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EB9DC-7627-4B07-A848-D0F5A170C7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8047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3262F-568E-4897-8EFB-773EE3ADD19E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EB9DC-7627-4B07-A848-D0F5A170C7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293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3262F-568E-4897-8EFB-773EE3ADD19E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EB9DC-7627-4B07-A848-D0F5A170C7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8399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C3262F-568E-4897-8EFB-773EE3ADD19E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5EB9DC-7627-4B07-A848-D0F5A170C7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9262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gif"/><Relationship Id="rId2" Type="http://schemas.openxmlformats.org/officeDocument/2006/relationships/image" Target="../media/image22.gi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24857" y="1041400"/>
            <a:ext cx="9942286" cy="2387600"/>
          </a:xfrm>
        </p:spPr>
        <p:txBody>
          <a:bodyPr/>
          <a:lstStyle/>
          <a:p>
            <a:r>
              <a:rPr lang="ru-RU" dirty="0">
                <a:latin typeface="Bahnschrift" panose="020B0502040204020203" pitchFamily="34" charset="0"/>
              </a:rPr>
              <a:t>Основы работы с </a:t>
            </a:r>
            <a:r>
              <a:rPr lang="en-US" dirty="0">
                <a:latin typeface="Bahnschrift" panose="020B0502040204020203" pitchFamily="34" charset="0"/>
              </a:rPr>
              <a:t>ENVI-met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9865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A6341C-465C-4FE1-9689-6E8381293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760" y="804328"/>
            <a:ext cx="6091312" cy="1205821"/>
          </a:xfrm>
        </p:spPr>
        <p:txBody>
          <a:bodyPr>
            <a:normAutofit/>
          </a:bodyPr>
          <a:lstStyle/>
          <a:p>
            <a:r>
              <a:rPr lang="ru-RU" sz="4800" dirty="0">
                <a:solidFill>
                  <a:srgbClr val="FEFFFF"/>
                </a:solidFill>
                <a:latin typeface="Bahnschrift Light" panose="020B0502040204020203" pitchFamily="34" charset="0"/>
              </a:rPr>
              <a:t>Модель </a:t>
            </a:r>
            <a:r>
              <a:rPr lang="en-US" sz="4800" dirty="0">
                <a:solidFill>
                  <a:srgbClr val="FEFFFF"/>
                </a:solidFill>
                <a:latin typeface="Bahnschrift Light" panose="020B0502040204020203" pitchFamily="34" charset="0"/>
              </a:rPr>
              <a:t>ENVI-met</a:t>
            </a:r>
            <a:endParaRPr lang="ru-RU" sz="4800" dirty="0">
              <a:solidFill>
                <a:srgbClr val="FEFFFF"/>
              </a:solidFill>
              <a:latin typeface="Bahnschrift Light" panose="020B0502040204020203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FB3ABDF-071D-4A50-85AE-DB154C4BAA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54099" y="729843"/>
            <a:ext cx="3507529" cy="5323830"/>
          </a:xfrm>
        </p:spPr>
        <p:txBody>
          <a:bodyPr>
            <a:normAutofit/>
          </a:bodyPr>
          <a:lstStyle/>
          <a:p>
            <a:r>
              <a:rPr lang="ru-RU" sz="2400" dirty="0">
                <a:latin typeface="Bahnschrift Light" panose="020B0502040204020203" pitchFamily="34" charset="0"/>
              </a:rPr>
              <a:t>Негидростатическая трехмерная микроклиматическая модель</a:t>
            </a:r>
          </a:p>
          <a:p>
            <a:r>
              <a:rPr lang="ru-RU" sz="2400" dirty="0">
                <a:latin typeface="Bahnschrift Light" panose="020B0502040204020203" pitchFamily="34" charset="0"/>
              </a:rPr>
              <a:t>Учет трения о здания</a:t>
            </a:r>
          </a:p>
          <a:p>
            <a:r>
              <a:rPr lang="ru-RU" sz="2400" dirty="0">
                <a:latin typeface="Bahnschrift Light" panose="020B0502040204020203" pitchFamily="34" charset="0"/>
              </a:rPr>
              <a:t>Учет теплообмена зданий со средой</a:t>
            </a:r>
          </a:p>
          <a:p>
            <a:r>
              <a:rPr lang="ru-RU" sz="2400" dirty="0">
                <a:latin typeface="Bahnschrift Light" panose="020B0502040204020203" pitchFamily="34" charset="0"/>
              </a:rPr>
              <a:t>Учет воздействия деревьев – </a:t>
            </a:r>
            <a:r>
              <a:rPr lang="ru-RU" sz="2400" dirty="0" err="1">
                <a:latin typeface="Bahnschrift Light" panose="020B0502040204020203" pitchFamily="34" charset="0"/>
              </a:rPr>
              <a:t>эвапотранспирация</a:t>
            </a:r>
            <a:r>
              <a:rPr lang="ru-RU" sz="2400" dirty="0">
                <a:latin typeface="Bahnschrift Light" panose="020B0502040204020203" pitchFamily="34" charset="0"/>
              </a:rPr>
              <a:t>, торможение ветра</a:t>
            </a:r>
          </a:p>
          <a:p>
            <a:pPr marL="0" indent="0">
              <a:buNone/>
            </a:pPr>
            <a:endParaRPr lang="ru-RU" sz="2400" dirty="0">
              <a:latin typeface="Bahnschrift Light" panose="020B0502040204020203" pitchFamily="34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481B447-5C73-4A1F-B702-253DA025A1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1207" y="5836715"/>
            <a:ext cx="4753210" cy="5941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B44750D-09D4-4DE0-B6D1-87D90C68694B}"/>
              </a:ext>
            </a:extLst>
          </p:cNvPr>
          <p:cNvSpPr txBox="1"/>
          <p:nvPr/>
        </p:nvSpPr>
        <p:spPr>
          <a:xfrm>
            <a:off x="6454417" y="5988230"/>
            <a:ext cx="5697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Уравнения движения в осреднении по Рейнольдсу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47E3F7-0255-45CF-8BE0-816BC84560FB}"/>
              </a:ext>
            </a:extLst>
          </p:cNvPr>
          <p:cNvSpPr txBox="1"/>
          <p:nvPr/>
        </p:nvSpPr>
        <p:spPr>
          <a:xfrm>
            <a:off x="111615" y="6459339"/>
            <a:ext cx="2015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envi-met.com</a:t>
            </a:r>
            <a:endParaRPr lang="ru-RU" i="1" dirty="0"/>
          </a:p>
        </p:txBody>
      </p:sp>
      <p:pic>
        <p:nvPicPr>
          <p:cNvPr id="1026" name="Picture 2" descr=" ENVI-met Architecture">
            <a:extLst>
              <a:ext uri="{FF2B5EF4-FFF2-40B4-BE49-F238E27FC236}">
                <a16:creationId xmlns:a16="http://schemas.microsoft.com/office/drawing/2014/main" id="{598151F4-6C4C-7A7D-A2C9-2116D49E95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15" y="500438"/>
            <a:ext cx="7975158" cy="492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2522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Порядок работы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arenR"/>
            </a:pPr>
            <a:r>
              <a:rPr lang="ru-RU" dirty="0"/>
              <a:t>Подготовить данные о зданиях, поверхности и растительности</a:t>
            </a:r>
          </a:p>
          <a:p>
            <a:pPr marL="514350" indent="-514350">
              <a:buAutoNum type="arabicParenR"/>
            </a:pPr>
            <a:r>
              <a:rPr lang="ru-RU" dirty="0"/>
              <a:t>Подготовить начальные и граничные условия, настроить параметры записи данных</a:t>
            </a:r>
          </a:p>
          <a:p>
            <a:pPr marL="514350" indent="-514350">
              <a:buAutoNum type="arabicParenR"/>
            </a:pPr>
            <a:r>
              <a:rPr lang="ru-RU" dirty="0"/>
              <a:t>Расчеты</a:t>
            </a:r>
          </a:p>
          <a:p>
            <a:pPr marL="514350" indent="-514350">
              <a:buAutoNum type="arabicParenR"/>
            </a:pPr>
            <a:r>
              <a:rPr lang="ru-RU" dirty="0" err="1"/>
              <a:t>Постпроцессинг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34646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Организация</a:t>
            </a:r>
            <a:endParaRPr lang="en-US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1806" y="1796750"/>
            <a:ext cx="7308388" cy="1526187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4093" y="3429000"/>
            <a:ext cx="8523814" cy="1171319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5127160"/>
            <a:ext cx="11021096" cy="140206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077456" y="1517904"/>
            <a:ext cx="2203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Старая версия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034528" y="4600319"/>
            <a:ext cx="2203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Новая версия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99339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Препроцессинг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Импортировать данные из </a:t>
            </a:r>
            <a:r>
              <a:rPr lang="en-US" dirty="0"/>
              <a:t>OSM</a:t>
            </a:r>
          </a:p>
          <a:p>
            <a:r>
              <a:rPr lang="ru-RU" dirty="0"/>
              <a:t>Работа в </a:t>
            </a:r>
            <a:r>
              <a:rPr lang="en-US" dirty="0"/>
              <a:t>QGIS </a:t>
            </a:r>
            <a:r>
              <a:rPr lang="ru-RU" dirty="0"/>
              <a:t>с плагином </a:t>
            </a:r>
            <a:r>
              <a:rPr lang="en-US" dirty="0"/>
              <a:t>ENVI-met</a:t>
            </a:r>
          </a:p>
          <a:p>
            <a:endParaRPr lang="en-US" dirty="0"/>
          </a:p>
          <a:p>
            <a:pPr marL="0" indent="0">
              <a:buNone/>
            </a:pPr>
            <a:r>
              <a:rPr lang="ru-RU" dirty="0"/>
              <a:t>Либо</a:t>
            </a:r>
          </a:p>
          <a:p>
            <a:pPr marL="0" indent="0">
              <a:buNone/>
            </a:pPr>
            <a:endParaRPr lang="ru-RU" dirty="0"/>
          </a:p>
          <a:p>
            <a:r>
              <a:rPr lang="ru-RU" dirty="0"/>
              <a:t>Вручную в программе </a:t>
            </a:r>
            <a:r>
              <a:rPr lang="en-US" dirty="0"/>
              <a:t>Spaces </a:t>
            </a:r>
            <a:r>
              <a:rPr lang="ru-RU" dirty="0"/>
              <a:t>(маленькие области счета)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40882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QGIS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3437" y="1662580"/>
            <a:ext cx="8316486" cy="4677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849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2675731"/>
            <a:ext cx="2938272" cy="1325563"/>
          </a:xfrm>
        </p:spPr>
        <p:txBody>
          <a:bodyPr>
            <a:normAutofit fontScale="90000"/>
          </a:bodyPr>
          <a:lstStyle/>
          <a:p>
            <a:r>
              <a:rPr lang="ru-RU" dirty="0"/>
              <a:t>Импорт данных из </a:t>
            </a:r>
            <a:r>
              <a:rPr lang="en-US" dirty="0"/>
              <a:t>OSM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9559" y="819559"/>
            <a:ext cx="7474143" cy="5566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8692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824728" y="365125"/>
            <a:ext cx="5861304" cy="1792859"/>
          </a:xfrm>
        </p:spPr>
        <p:txBody>
          <a:bodyPr anchor="t">
            <a:normAutofit fontScale="90000"/>
          </a:bodyPr>
          <a:lstStyle/>
          <a:p>
            <a:r>
              <a:rPr lang="ru-RU" sz="3600" dirty="0">
                <a:latin typeface="+mn-lt"/>
              </a:rPr>
              <a:t>Временный слой – полигон</a:t>
            </a:r>
            <a:br>
              <a:rPr lang="ru-RU" sz="3600" dirty="0">
                <a:latin typeface="+mn-lt"/>
              </a:rPr>
            </a:br>
            <a:r>
              <a:rPr lang="ru-RU" sz="3600" dirty="0">
                <a:latin typeface="+mn-lt"/>
              </a:rPr>
              <a:t>Делаем 4-угольный полигон – граница области счета</a:t>
            </a:r>
            <a:br>
              <a:rPr lang="ru-RU" sz="3600" dirty="0">
                <a:latin typeface="+mn-lt"/>
              </a:rPr>
            </a:br>
            <a:r>
              <a:rPr lang="ru-RU" sz="3600" dirty="0">
                <a:latin typeface="+mn-lt"/>
              </a:rPr>
              <a:t>Задаем параметры вертикальной и горизонтальной сетки</a:t>
            </a:r>
            <a:br>
              <a:rPr lang="ru-RU" sz="3600" dirty="0">
                <a:latin typeface="+mn-lt"/>
              </a:rPr>
            </a:br>
            <a:endParaRPr lang="en-US" sz="3600" dirty="0">
              <a:latin typeface="+mn-lt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5125"/>
            <a:ext cx="4467849" cy="6134956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2936" y="3142250"/>
            <a:ext cx="6587132" cy="3232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0006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131868"/>
            <a:ext cx="10515600" cy="1325563"/>
          </a:xfrm>
        </p:spPr>
        <p:txBody>
          <a:bodyPr>
            <a:noAutofit/>
          </a:bodyPr>
          <a:lstStyle/>
          <a:p>
            <a:r>
              <a:rPr lang="ru-RU" sz="2800" dirty="0"/>
              <a:t>Слой зданий. При желании можно задать высоты и материалы стен в атрибутах векторных объектов (проще задать постоянными)</a:t>
            </a:r>
            <a:endParaRPr lang="en-US" sz="28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4167" y="1457431"/>
            <a:ext cx="9819903" cy="5087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8416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ru-RU" sz="3200" dirty="0"/>
              <a:t>Подстилающая поверхность. Полигоны или растр</a:t>
            </a:r>
            <a:endParaRPr lang="en-US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460500"/>
            <a:ext cx="10515600" cy="4351338"/>
          </a:xfrm>
        </p:spPr>
        <p:txBody>
          <a:bodyPr>
            <a:normAutofit/>
          </a:bodyPr>
          <a:lstStyle/>
          <a:p>
            <a:endParaRPr lang="en-US" sz="16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045" y="952598"/>
            <a:ext cx="10821910" cy="2229161"/>
          </a:xfrm>
          <a:prstGeom prst="rect">
            <a:avLst/>
          </a:prstGeom>
        </p:spPr>
      </p:pic>
      <p:sp>
        <p:nvSpPr>
          <p:cNvPr id="5" name="Заголовок 1"/>
          <p:cNvSpPr txBox="1">
            <a:spLocks/>
          </p:cNvSpPr>
          <p:nvPr/>
        </p:nvSpPr>
        <p:spPr>
          <a:xfrm>
            <a:off x="838200" y="306387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200" dirty="0"/>
              <a:t>Растительность. Трава – полигоны или растр, деревья - точки</a:t>
            </a:r>
            <a:endParaRPr lang="en-US" sz="3200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048" y="4381154"/>
            <a:ext cx="10583752" cy="2476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4297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Где смотреть индекс для материалов стен, типов деревьев и </a:t>
            </a:r>
            <a:r>
              <a:rPr lang="ru-RU" dirty="0" err="1"/>
              <a:t>тд</a:t>
            </a:r>
            <a:r>
              <a:rPr lang="ru-RU" dirty="0"/>
              <a:t>?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73090"/>
            <a:ext cx="5660136" cy="430387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734" y="3055609"/>
            <a:ext cx="4410668" cy="74678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822216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Экспорт файла территории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018" y="1966708"/>
            <a:ext cx="11383964" cy="2924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5530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5475" y="1745700"/>
            <a:ext cx="8401049" cy="4511188"/>
          </a:xfrm>
          <a:prstGeom prst="rect">
            <a:avLst/>
          </a:prstGeom>
        </p:spPr>
      </p:pic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При необходимости редактировать можно в программе </a:t>
            </a:r>
            <a:r>
              <a:rPr lang="en-US" dirty="0"/>
              <a:t>Spaces (Edit model area)</a:t>
            </a:r>
          </a:p>
        </p:txBody>
      </p:sp>
    </p:spTree>
    <p:extLst>
      <p:ext uri="{BB962C8B-B14F-4D97-AF65-F5344CB8AC3E}">
        <p14:creationId xmlns:p14="http://schemas.microsoft.com/office/powerpoint/2010/main" val="6829471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20040" y="975970"/>
            <a:ext cx="3502152" cy="4737227"/>
          </a:xfrm>
        </p:spPr>
        <p:txBody>
          <a:bodyPr>
            <a:noAutofit/>
          </a:bodyPr>
          <a:lstStyle/>
          <a:p>
            <a:r>
              <a:rPr lang="ru-RU" sz="2800" dirty="0">
                <a:latin typeface="+mn-lt"/>
              </a:rPr>
              <a:t>Необходимо задать данные о моделировании (дата, число часов моделирования)</a:t>
            </a:r>
            <a:br>
              <a:rPr lang="ru-RU" sz="2800" dirty="0">
                <a:latin typeface="+mn-lt"/>
              </a:rPr>
            </a:br>
            <a:br>
              <a:rPr lang="ru-RU" sz="2800" dirty="0">
                <a:latin typeface="+mn-lt"/>
              </a:rPr>
            </a:br>
            <a:r>
              <a:rPr lang="ru-RU" sz="2800" dirty="0">
                <a:latin typeface="+mn-lt"/>
              </a:rPr>
              <a:t>Импортировать сохраненный файл с территорией</a:t>
            </a:r>
            <a:br>
              <a:rPr lang="ru-RU" sz="2800" dirty="0">
                <a:latin typeface="+mn-lt"/>
              </a:rPr>
            </a:br>
            <a:br>
              <a:rPr lang="ru-RU" sz="2800" dirty="0">
                <a:latin typeface="+mn-lt"/>
              </a:rPr>
            </a:br>
            <a:r>
              <a:rPr lang="ru-RU" sz="2800" dirty="0">
                <a:latin typeface="+mn-lt"/>
              </a:rPr>
              <a:t>Задать метеорологические параметры</a:t>
            </a:r>
            <a:endParaRPr lang="en-US" sz="2800" dirty="0">
              <a:latin typeface="+mn-lt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8955" y="975970"/>
            <a:ext cx="7954484" cy="4906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3263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08345" y="1382648"/>
            <a:ext cx="4155311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В бесплатной версии можно задать только ход влажности и температуры воздуха. Скорость и направление ветра, балл облачности – постоянные величины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2552" y="1124014"/>
            <a:ext cx="7217069" cy="4609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35351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08344" y="1169043"/>
            <a:ext cx="3506972" cy="500792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dirty="0"/>
              <a:t>Файл с данными для моделирования будет иметь разрешение </a:t>
            </a:r>
            <a:r>
              <a:rPr lang="en-US" dirty="0"/>
              <a:t>.</a:t>
            </a:r>
            <a:r>
              <a:rPr lang="en-US" dirty="0" err="1"/>
              <a:t>simx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Для запуска расчетов необходимо запустить приложение </a:t>
            </a:r>
            <a:r>
              <a:rPr lang="en-US" dirty="0" err="1"/>
              <a:t>envi</a:t>
            </a:r>
            <a:r>
              <a:rPr lang="en-US" dirty="0"/>
              <a:t>-core</a:t>
            </a:r>
            <a:r>
              <a:rPr lang="ru-RU" dirty="0"/>
              <a:t>, выбрать проект (правый верхний угол), после чего будет доступна опция загрузки </a:t>
            </a:r>
            <a:r>
              <a:rPr lang="en-US" dirty="0" err="1"/>
              <a:t>simx</a:t>
            </a:r>
            <a:r>
              <a:rPr lang="en-US" dirty="0"/>
              <a:t> </a:t>
            </a:r>
            <a:r>
              <a:rPr lang="ru-RU" dirty="0"/>
              <a:t>файла (левый верхний угол)</a:t>
            </a:r>
          </a:p>
          <a:p>
            <a:pPr marL="0" indent="0">
              <a:buNone/>
            </a:pPr>
            <a:r>
              <a:rPr lang="ru-RU" dirty="0"/>
              <a:t>Проводить проверку не обязательно, можно сразу нажимать </a:t>
            </a:r>
            <a:r>
              <a:rPr lang="en-US" dirty="0"/>
              <a:t>run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5316" y="365125"/>
            <a:ext cx="8224469" cy="6484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2079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9BBDA64-AFDC-4226-8524-BC4D9741A7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7093" y="199983"/>
            <a:ext cx="5237588" cy="3666312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018BD8-48F3-4C40-BBB9-602975FF9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3914" y="4458361"/>
            <a:ext cx="4490646" cy="1655384"/>
          </a:xfrm>
        </p:spPr>
        <p:txBody>
          <a:bodyPr>
            <a:normAutofit fontScale="90000"/>
          </a:bodyPr>
          <a:lstStyle/>
          <a:p>
            <a:pPr algn="r"/>
            <a:r>
              <a:rPr lang="ru-RU" sz="4800" dirty="0">
                <a:latin typeface="Bahnschrift Light" panose="020B0502040204020203" pitchFamily="34" charset="0"/>
              </a:rPr>
              <a:t>Пример работы с </a:t>
            </a:r>
            <a:r>
              <a:rPr lang="en-US" sz="4800" dirty="0">
                <a:latin typeface="Bahnschrift Light" panose="020B0502040204020203" pitchFamily="34" charset="0"/>
              </a:rPr>
              <a:t>ENVI-met</a:t>
            </a:r>
            <a:endParaRPr lang="ru-RU" sz="4800" dirty="0">
              <a:latin typeface="Bahnschrift Light" panose="020B0502040204020203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532E903-E2ED-4F76-A916-38C7317DEC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4419" y="4492406"/>
            <a:ext cx="5367267" cy="1587294"/>
          </a:xfrm>
        </p:spPr>
        <p:txBody>
          <a:bodyPr anchor="ctr">
            <a:normAutofit/>
          </a:bodyPr>
          <a:lstStyle/>
          <a:p>
            <a:r>
              <a:rPr lang="ru-RU" sz="2000" dirty="0">
                <a:latin typeface="Bahnschrift Light" panose="020B0502040204020203" pitchFamily="34" charset="0"/>
              </a:rPr>
              <a:t>Размер 1960*1380 метров</a:t>
            </a:r>
          </a:p>
          <a:p>
            <a:r>
              <a:rPr lang="ru-RU" sz="2000" dirty="0">
                <a:latin typeface="Bahnschrift Light" panose="020B0502040204020203" pitchFamily="34" charset="0"/>
              </a:rPr>
              <a:t>Вокруг метеостанции Балчуг</a:t>
            </a:r>
          </a:p>
          <a:p>
            <a:r>
              <a:rPr lang="ru-RU" sz="2000" dirty="0">
                <a:latin typeface="Bahnschrift Light" panose="020B0502040204020203" pitchFamily="34" charset="0"/>
              </a:rPr>
              <a:t>Здания разных высот</a:t>
            </a:r>
          </a:p>
          <a:p>
            <a:r>
              <a:rPr lang="ru-RU" sz="2000" dirty="0">
                <a:latin typeface="Bahnschrift Light" panose="020B0502040204020203" pitchFamily="34" charset="0"/>
              </a:rPr>
              <a:t>Крупные массивы деревьев</a:t>
            </a:r>
          </a:p>
        </p:txBody>
      </p:sp>
      <p:pic>
        <p:nvPicPr>
          <p:cNvPr id="12" name="Рисунок 11" descr="Изображение выглядит как карта&#10;&#10;Автоматически созданное описание">
            <a:extLst>
              <a:ext uri="{FF2B5EF4-FFF2-40B4-BE49-F238E27FC236}">
                <a16:creationId xmlns:a16="http://schemas.microsoft.com/office/drawing/2014/main" id="{5BFD501D-FB98-4383-AB84-B94AEA079D1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31"/>
          <a:stretch/>
        </p:blipFill>
        <p:spPr>
          <a:xfrm>
            <a:off x="457319" y="0"/>
            <a:ext cx="5775960" cy="397276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813240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AC51B1-38E2-49B5-9D3D-424B1ECEB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3409" y="18255"/>
            <a:ext cx="10515600" cy="1325563"/>
          </a:xfrm>
        </p:spPr>
        <p:txBody>
          <a:bodyPr/>
          <a:lstStyle/>
          <a:p>
            <a:r>
              <a:rPr lang="ru-RU" dirty="0"/>
              <a:t>Результаты</a:t>
            </a:r>
            <a:r>
              <a:rPr lang="en-US" dirty="0"/>
              <a:t> </a:t>
            </a:r>
            <a:r>
              <a:rPr lang="ru-RU" dirty="0"/>
              <a:t>моделирования в </a:t>
            </a:r>
            <a:r>
              <a:rPr lang="en-US" dirty="0"/>
              <a:t>ENVI-met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E5E9782-F38E-479A-A4B0-E2CEAF61B0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text</a:t>
            </a:r>
            <a:endParaRPr lang="ru-RU" dirty="0"/>
          </a:p>
        </p:txBody>
      </p:sp>
      <p:pic>
        <p:nvPicPr>
          <p:cNvPr id="5" name="Рисунок 4" descr="Изображение выглядит как карта&#10;&#10;Автоматически созданное описание">
            <a:extLst>
              <a:ext uri="{FF2B5EF4-FFF2-40B4-BE49-F238E27FC236}">
                <a16:creationId xmlns:a16="http://schemas.microsoft.com/office/drawing/2014/main" id="{599E0292-702B-4549-8B8D-267B791600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1209" y="1343122"/>
            <a:ext cx="5962966" cy="431801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6EFCD40-86D6-4621-8603-2B55A8DF33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241" y="1343121"/>
            <a:ext cx="5962968" cy="431801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B3B062B-1BC9-4224-9C5D-79C9C60E2ED2}"/>
              </a:ext>
            </a:extLst>
          </p:cNvPr>
          <p:cNvSpPr txBox="1"/>
          <p:nvPr/>
        </p:nvSpPr>
        <p:spPr>
          <a:xfrm>
            <a:off x="244367" y="5817476"/>
            <a:ext cx="94593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Индекс РЕТ – физиологически эквивалентная температура. Рассчитывается из учета энергетического баланса человека. На территории – от комфортной температуры до умеренного и сильного теплового стресса</a:t>
            </a:r>
          </a:p>
        </p:txBody>
      </p:sp>
    </p:spTree>
    <p:extLst>
      <p:ext uri="{BB962C8B-B14F-4D97-AF65-F5344CB8AC3E}">
        <p14:creationId xmlns:p14="http://schemas.microsoft.com/office/powerpoint/2010/main" val="13258752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DAFF0BD-22BF-4867-84B6-17BDF5723B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055" y="369854"/>
            <a:ext cx="5385283" cy="3756236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0AC5BA1-7A8B-4643-A61A-CFAB1FA873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2664" y="416508"/>
            <a:ext cx="5385283" cy="375623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DCB499-EBA7-4426-8749-11BBABDBD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323" y="4458361"/>
            <a:ext cx="4887830" cy="1655384"/>
          </a:xfrm>
        </p:spPr>
        <p:txBody>
          <a:bodyPr>
            <a:normAutofit/>
          </a:bodyPr>
          <a:lstStyle/>
          <a:p>
            <a:pPr algn="r"/>
            <a:r>
              <a:rPr lang="ru-RU" sz="3600" dirty="0">
                <a:latin typeface="Bahnschrift Light" panose="020B0502040204020203" pitchFamily="34" charset="0"/>
              </a:rPr>
              <a:t>Метеорологические характеристики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276B779-C40E-4BEA-A7CA-78B3467F19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4419" y="4492406"/>
            <a:ext cx="5367267" cy="1587294"/>
          </a:xfrm>
        </p:spPr>
        <p:txBody>
          <a:bodyPr anchor="ctr">
            <a:normAutofit lnSpcReduction="10000"/>
          </a:bodyPr>
          <a:lstStyle/>
          <a:p>
            <a:r>
              <a:rPr lang="ru-RU" sz="2000" dirty="0"/>
              <a:t>Наибольшая разность температур – под деревьями меньше на 6,5 </a:t>
            </a:r>
            <a:r>
              <a:rPr lang="de-DE" sz="2000" dirty="0"/>
              <a:t>°C</a:t>
            </a:r>
          </a:p>
          <a:p>
            <a:r>
              <a:rPr lang="ru-RU" sz="2000" dirty="0"/>
              <a:t>Деревья производят большое количество влаги – влажность больше на 2,5 г/кг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B69C2A-A18C-47A3-ADD7-E6FB8E8BEBAD}"/>
              </a:ext>
            </a:extLst>
          </p:cNvPr>
          <p:cNvSpPr txBox="1"/>
          <p:nvPr/>
        </p:nvSpPr>
        <p:spPr>
          <a:xfrm>
            <a:off x="2787890" y="17399"/>
            <a:ext cx="6511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Сравнение прогона с деревьями с прогоном без деревьев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108900-B1CC-4A3D-8B13-C09A61B4AA58}"/>
              </a:ext>
            </a:extLst>
          </p:cNvPr>
          <p:cNvSpPr txBox="1"/>
          <p:nvPr/>
        </p:nvSpPr>
        <p:spPr>
          <a:xfrm>
            <a:off x="1286933" y="460470"/>
            <a:ext cx="28087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Температура воздуха, °С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CD451A-E099-44C7-9F1C-DBC1615083A3}"/>
              </a:ext>
            </a:extLst>
          </p:cNvPr>
          <p:cNvSpPr txBox="1"/>
          <p:nvPr/>
        </p:nvSpPr>
        <p:spPr>
          <a:xfrm>
            <a:off x="6881707" y="460470"/>
            <a:ext cx="2803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Влажность воздуха, г/кг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6FDB49-E620-42E6-9F72-1DB53E47A528}"/>
              </a:ext>
            </a:extLst>
          </p:cNvPr>
          <p:cNvSpPr txBox="1"/>
          <p:nvPr/>
        </p:nvSpPr>
        <p:spPr>
          <a:xfrm>
            <a:off x="892702" y="3493661"/>
            <a:ext cx="15600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Bahnschrift" panose="020B0502040204020203" pitchFamily="34" charset="0"/>
              </a:rPr>
              <a:t>Мин</a:t>
            </a:r>
            <a:r>
              <a:rPr lang="en-US" dirty="0">
                <a:latin typeface="Bahnschrift" panose="020B0502040204020203" pitchFamily="34" charset="0"/>
              </a:rPr>
              <a:t>: -6.52 °C</a:t>
            </a:r>
          </a:p>
          <a:p>
            <a:r>
              <a:rPr lang="en-US" dirty="0">
                <a:latin typeface="Bahnschrift" panose="020B0502040204020203" pitchFamily="34" charset="0"/>
              </a:rPr>
              <a:t>Ma</a:t>
            </a:r>
            <a:r>
              <a:rPr lang="ru-RU" dirty="0">
                <a:latin typeface="Bahnschrift" panose="020B0502040204020203" pitchFamily="34" charset="0"/>
              </a:rPr>
              <a:t>кс</a:t>
            </a:r>
            <a:r>
              <a:rPr lang="en-US" dirty="0">
                <a:latin typeface="Bahnschrift" panose="020B0502040204020203" pitchFamily="34" charset="0"/>
              </a:rPr>
              <a:t>: 2.13 °C</a:t>
            </a:r>
            <a:endParaRPr lang="ru-RU" dirty="0">
              <a:latin typeface="Bahnschrift" panose="020B0502040204020203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534835D-63F5-4836-824F-048886846613}"/>
              </a:ext>
            </a:extLst>
          </p:cNvPr>
          <p:cNvSpPr txBox="1"/>
          <p:nvPr/>
        </p:nvSpPr>
        <p:spPr>
          <a:xfrm>
            <a:off x="6578599" y="3493661"/>
            <a:ext cx="17572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M</a:t>
            </a:r>
            <a:r>
              <a:rPr lang="ru-RU" dirty="0">
                <a:latin typeface="Bahnschrift" panose="020B0502040204020203" pitchFamily="34" charset="0"/>
              </a:rPr>
              <a:t>ин</a:t>
            </a:r>
            <a:r>
              <a:rPr lang="en-US" dirty="0">
                <a:latin typeface="Bahnschrift" panose="020B0502040204020203" pitchFamily="34" charset="0"/>
              </a:rPr>
              <a:t>: -4.55 </a:t>
            </a:r>
            <a:r>
              <a:rPr lang="ru-RU" dirty="0">
                <a:latin typeface="Bahnschrift" panose="020B0502040204020203" pitchFamily="34" charset="0"/>
              </a:rPr>
              <a:t>г</a:t>
            </a:r>
            <a:r>
              <a:rPr lang="en-US" dirty="0">
                <a:latin typeface="Bahnschrift" panose="020B0502040204020203" pitchFamily="34" charset="0"/>
              </a:rPr>
              <a:t>/</a:t>
            </a:r>
            <a:r>
              <a:rPr lang="ru-RU" dirty="0">
                <a:latin typeface="Bahnschrift" panose="020B0502040204020203" pitchFamily="34" charset="0"/>
              </a:rPr>
              <a:t>кг</a:t>
            </a:r>
            <a:endParaRPr lang="en-US" dirty="0">
              <a:latin typeface="Bahnschrift" panose="020B0502040204020203" pitchFamily="34" charset="0"/>
            </a:endParaRPr>
          </a:p>
          <a:p>
            <a:r>
              <a:rPr lang="en-US" dirty="0">
                <a:latin typeface="Bahnschrift" panose="020B0502040204020203" pitchFamily="34" charset="0"/>
              </a:rPr>
              <a:t>Ma</a:t>
            </a:r>
            <a:r>
              <a:rPr lang="ru-RU" dirty="0">
                <a:latin typeface="Bahnschrift" panose="020B0502040204020203" pitchFamily="34" charset="0"/>
              </a:rPr>
              <a:t>кс</a:t>
            </a:r>
            <a:r>
              <a:rPr lang="en-US" dirty="0">
                <a:latin typeface="Bahnschrift" panose="020B0502040204020203" pitchFamily="34" charset="0"/>
              </a:rPr>
              <a:t>: 2.51 </a:t>
            </a:r>
            <a:r>
              <a:rPr lang="ru-RU" dirty="0">
                <a:latin typeface="Bahnschrift" panose="020B0502040204020203" pitchFamily="34" charset="0"/>
              </a:rPr>
              <a:t>г</a:t>
            </a:r>
            <a:r>
              <a:rPr lang="en-US" dirty="0">
                <a:latin typeface="Bahnschrift" panose="020B0502040204020203" pitchFamily="34" charset="0"/>
              </a:rPr>
              <a:t>/</a:t>
            </a:r>
            <a:r>
              <a:rPr lang="ru-RU" dirty="0">
                <a:latin typeface="Bahnschrift" panose="020B0502040204020203" pitchFamily="34" charset="0"/>
              </a:rPr>
              <a:t>кг</a:t>
            </a:r>
          </a:p>
        </p:txBody>
      </p:sp>
    </p:spTree>
    <p:extLst>
      <p:ext uri="{BB962C8B-B14F-4D97-AF65-F5344CB8AC3E}">
        <p14:creationId xmlns:p14="http://schemas.microsoft.com/office/powerpoint/2010/main" val="13519361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CA4538-4B1D-4519-AD4E-6412DEB4B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5" y="365125"/>
            <a:ext cx="11235875" cy="1325563"/>
          </a:xfrm>
          <a:solidFill>
            <a:schemeClr val="accent1"/>
          </a:solidFill>
        </p:spPr>
        <p:txBody>
          <a:bodyPr/>
          <a:lstStyle/>
          <a:p>
            <a:r>
              <a:rPr lang="ru-RU" dirty="0">
                <a:solidFill>
                  <a:schemeClr val="bg1"/>
                </a:solidFill>
                <a:latin typeface="Bahnschrift Light" panose="020B0502040204020203" pitchFamily="34" charset="0"/>
              </a:rPr>
              <a:t>Влияние на индекс РЕТ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5B31487-FD1A-43D3-93E7-34FD647743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25" y="5116047"/>
            <a:ext cx="9325923" cy="1576005"/>
          </a:xfrm>
        </p:spPr>
        <p:txBody>
          <a:bodyPr>
            <a:normAutofit fontScale="70000" lnSpcReduction="20000"/>
          </a:bodyPr>
          <a:lstStyle/>
          <a:p>
            <a:r>
              <a:rPr lang="ru-RU" dirty="0"/>
              <a:t>В пределах территории наблюдается легкий и умеренный тепловой стресс</a:t>
            </a:r>
          </a:p>
          <a:p>
            <a:r>
              <a:rPr lang="ru-RU" dirty="0"/>
              <a:t>Максимальная разница индекса РЕТ – под деревьями меньше на 3,5</a:t>
            </a:r>
            <a:r>
              <a:rPr lang="de-DE" dirty="0"/>
              <a:t>°C</a:t>
            </a:r>
          </a:p>
          <a:p>
            <a:r>
              <a:rPr lang="ru-RU" dirty="0"/>
              <a:t>В данных условиях – переход к среднему тепловому стрессу</a:t>
            </a:r>
          </a:p>
          <a:p>
            <a:r>
              <a:rPr lang="ru-RU" dirty="0"/>
              <a:t>Разность РЕТ меньше разности температуры из-за повышения влажности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CEBC52F-2B1C-448D-854E-C5B2F21622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9908" y="1774760"/>
            <a:ext cx="4673940" cy="3257216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6D3FE4F-FF8D-4E96-B87B-4A46C3CECD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925" y="1774760"/>
            <a:ext cx="4651983" cy="3257216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FA64EF6-B4D8-41F1-BD2F-57A99D6041E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58798"/>
          <a:stretch/>
        </p:blipFill>
        <p:spPr>
          <a:xfrm>
            <a:off x="9455968" y="1800192"/>
            <a:ext cx="2618107" cy="440220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4019546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Другая 4">
      <a:majorFont>
        <a:latin typeface="Bahnschrift SemiBold"/>
        <a:ea typeface=""/>
        <a:cs typeface=""/>
      </a:majorFont>
      <a:minorFont>
        <a:latin typeface="Bahnschrift Ligh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1546</TotalTime>
  <Words>427</Words>
  <Application>Microsoft Office PowerPoint</Application>
  <PresentationFormat>Широкоэкранный</PresentationFormat>
  <Paragraphs>60</Paragraphs>
  <Slides>20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5" baseType="lpstr">
      <vt:lpstr>Arial</vt:lpstr>
      <vt:lpstr>Bahnschrift</vt:lpstr>
      <vt:lpstr>Bahnschrift Light</vt:lpstr>
      <vt:lpstr>Bahnschrift SemiBold</vt:lpstr>
      <vt:lpstr>Тема Office</vt:lpstr>
      <vt:lpstr>Основы работы с ENVI-met</vt:lpstr>
      <vt:lpstr>Модель ENVI-met</vt:lpstr>
      <vt:lpstr>Порядок работы</vt:lpstr>
      <vt:lpstr>Организация</vt:lpstr>
      <vt:lpstr>Препроцессинг</vt:lpstr>
      <vt:lpstr>QGIS</vt:lpstr>
      <vt:lpstr>Импорт данных из OSM</vt:lpstr>
      <vt:lpstr>Временный слой – полигон Делаем 4-угольный полигон – граница области счета Задаем параметры вертикальной и горизонтальной сетки </vt:lpstr>
      <vt:lpstr>Слой зданий. При желании можно задать высоты и материалы стен в атрибутах векторных объектов (проще задать постоянными)</vt:lpstr>
      <vt:lpstr>Подстилающая поверхность. Полигоны или растр</vt:lpstr>
      <vt:lpstr>Где смотреть индекс для материалов стен, типов деревьев и тд?</vt:lpstr>
      <vt:lpstr>Экспорт файла территории</vt:lpstr>
      <vt:lpstr>При необходимости редактировать можно в программе Spaces (Edit model area)</vt:lpstr>
      <vt:lpstr>Необходимо задать данные о моделировании (дата, число часов моделирования)  Импортировать сохраненный файл с территорией  Задать метеорологические параметры</vt:lpstr>
      <vt:lpstr>Презентация PowerPoint</vt:lpstr>
      <vt:lpstr>Презентация PowerPoint</vt:lpstr>
      <vt:lpstr>Пример работы с ENVI-met</vt:lpstr>
      <vt:lpstr>Результаты моделирования в ENVI-met</vt:lpstr>
      <vt:lpstr>Метеорологические характеристики</vt:lpstr>
      <vt:lpstr>Влияние на индекс РЕТ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Основы работы с ENVI-met</dc:title>
  <dc:creator>Alen</dc:creator>
  <cp:lastModifiedBy>Varentsov Mikhail</cp:lastModifiedBy>
  <cp:revision>8</cp:revision>
  <dcterms:created xsi:type="dcterms:W3CDTF">2025-03-05T09:27:33Z</dcterms:created>
  <dcterms:modified xsi:type="dcterms:W3CDTF">2025-03-10T07:34:56Z</dcterms:modified>
</cp:coreProperties>
</file>